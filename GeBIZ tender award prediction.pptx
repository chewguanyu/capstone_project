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Nunito"/>
      <p:regular r:id="rId21"/>
      <p:bold r:id="rId22"/>
      <p:italic r:id="rId23"/>
      <p:boldItalic r:id="rId24"/>
    </p:embeddedFont>
    <p:embeddedFont>
      <p:font typeface="Maven Pro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BF4FBE-E0AC-4965-870A-F6EEFB92DB14}">
  <a:tblStyle styleId="{A5BF4FBE-E0AC-4965-870A-F6EEFB92DB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avenPro-bold.fntdata"/><Relationship Id="rId25" Type="http://schemas.openxmlformats.org/officeDocument/2006/relationships/font" Target="fonts/MavenPr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3045666691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3045666691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3045666691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3045666691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3113274d5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3113274d5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3113274d5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3113274d5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3113274d5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3113274d5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3113274d5e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3113274d5e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3113274d5e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3113274d5e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113274d5e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113274d5e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3113274d5e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3113274d5e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3113274d5e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3113274d5e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3113274d5e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3113274d5e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3113274d5e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3113274d5e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3113274d5e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3113274d5e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11" Type="http://schemas.openxmlformats.org/officeDocument/2006/relationships/image" Target="../media/image11.png"/><Relationship Id="rId10" Type="http://schemas.openxmlformats.org/officeDocument/2006/relationships/image" Target="../media/image19.png"/><Relationship Id="rId12" Type="http://schemas.openxmlformats.org/officeDocument/2006/relationships/image" Target="../media/image15.png"/><Relationship Id="rId9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GeBIZ tender award prediction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GeBIZ - Government Electronic Business</a:t>
            </a:r>
            <a:endParaRPr/>
          </a:p>
        </p:txBody>
      </p:sp>
      <p:sp>
        <p:nvSpPr>
          <p:cNvPr id="283" name="Google Shape;283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Singapore’s public sector e-procurement portal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Why do private companies use it?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Good business opportunities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Low counterparty risk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Highly competitive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Tender documents can be long and detailed</a:t>
            </a:r>
            <a:endParaRPr/>
          </a:p>
        </p:txBody>
      </p:sp>
      <p:pic>
        <p:nvPicPr>
          <p:cNvPr id="284" name="Google Shape;28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7150" y="2207875"/>
            <a:ext cx="2747150" cy="20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Costs to tendering for a project on GeBIZ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Man hours spent on examining tender documents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Domain knowledge is important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Task is difficult to delegate or oversee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Senior staff member needed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Possible outcomes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Company is unable to tender at a competitive price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Tender but loses to a competitor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Wins the tender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Loss of productivity</a:t>
            </a:r>
            <a:endParaRPr/>
          </a:p>
        </p:txBody>
      </p:sp>
      <p:pic>
        <p:nvPicPr>
          <p:cNvPr id="291" name="Google Shape;2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6813" y="1990038"/>
            <a:ext cx="2657475" cy="1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machine learning to predict award</a:t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1303800" y="1990050"/>
            <a:ext cx="4692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Screening tool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Estimate award price right at the start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Aid productivity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Instead of asking the question, “How much does it cost us to do this job?”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Allows the user to ask, “Can we do this job at $X?”</a:t>
            </a:r>
            <a:endParaRPr/>
          </a:p>
        </p:txBody>
      </p:sp>
      <p:pic>
        <p:nvPicPr>
          <p:cNvPr id="298" name="Google Shape;2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050" y="2617113"/>
            <a:ext cx="2381250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Gathering and cleaning the data</a:t>
            </a:r>
            <a:endParaRPr/>
          </a:p>
        </p:txBody>
      </p:sp>
      <p:sp>
        <p:nvSpPr>
          <p:cNvPr id="304" name="Google Shape;304;p17"/>
          <p:cNvSpPr txBox="1"/>
          <p:nvPr>
            <p:ph idx="1" type="body"/>
          </p:nvPr>
        </p:nvSpPr>
        <p:spPr>
          <a:xfrm>
            <a:off x="1303800" y="1990050"/>
            <a:ext cx="7030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Dataset </a:t>
            </a:r>
            <a:r>
              <a:rPr lang="en"/>
              <a:t>available from data.gov.sg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Search “Government Procurement via GeBIZ”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Shape: 32756 x 7</a:t>
            </a:r>
            <a:endParaRPr/>
          </a:p>
        </p:txBody>
      </p:sp>
      <p:graphicFrame>
        <p:nvGraphicFramePr>
          <p:cNvPr id="305" name="Google Shape;305;p17"/>
          <p:cNvGraphicFramePr/>
          <p:nvPr/>
        </p:nvGraphicFramePr>
        <p:xfrm>
          <a:off x="952500" y="281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{A5BF4FBE-E0AC-4965-870A-F6EEFB92DB14}</a:tableStyleId>
              </a:tblPr>
              <a:tblGrid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Column names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r>
                        <a:rPr lang="en" sz="1000"/>
                        <a:t>ender no.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tender</a:t>
                      </a:r>
                      <a:r>
                        <a:rPr lang="en" sz="1000"/>
                        <a:t> description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agency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award date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tender detail status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supplier name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awarded amt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Data type / action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 be dropped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Text, apply NLP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Categorical,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further EDA needed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Numerical, discrete, formatted to </a:t>
                      </a:r>
                      <a:r>
                        <a:rPr i="1" lang="en" sz="1000"/>
                        <a:t>yyymmdd</a:t>
                      </a:r>
                      <a:endParaRPr i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Categorical,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further EDA needed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 be dropped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Target variable, </a:t>
                      </a:r>
                      <a:r>
                        <a:rPr lang="en" sz="1000"/>
                        <a:t>continuous</a:t>
                      </a:r>
                      <a:r>
                        <a:rPr lang="en" sz="1000"/>
                        <a:t>, further EDA needed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311" name="Google Shape;311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“agency” column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Categorical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High cardinality, 122 categories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Try to reduce number of categories</a:t>
            </a:r>
            <a:endParaRPr/>
          </a:p>
        </p:txBody>
      </p:sp>
      <p:pic>
        <p:nvPicPr>
          <p:cNvPr id="312" name="Google Shape;3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1625" y="1587919"/>
            <a:ext cx="3212675" cy="196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8"/>
          <p:cNvSpPr txBox="1"/>
          <p:nvPr/>
        </p:nvSpPr>
        <p:spPr>
          <a:xfrm rot="-5400000">
            <a:off x="4272463" y="2371656"/>
            <a:ext cx="129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Record Count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6233100" y="3555575"/>
            <a:ext cx="9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Agencies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320" name="Google Shape;320;p19"/>
          <p:cNvSpPr txBox="1"/>
          <p:nvPr>
            <p:ph idx="1" type="body"/>
          </p:nvPr>
        </p:nvSpPr>
        <p:spPr>
          <a:xfrm>
            <a:off x="1303800" y="1990050"/>
            <a:ext cx="390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“agency” column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Arrange according to most frequent agency in descending order.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Least frequent 25% records renamed as “Other”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Categories reduced to 30</a:t>
            </a:r>
            <a:endParaRPr/>
          </a:p>
        </p:txBody>
      </p:sp>
      <p:pic>
        <p:nvPicPr>
          <p:cNvPr id="321" name="Google Shape;3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1602" y="1462687"/>
            <a:ext cx="2802700" cy="359632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9"/>
          <p:cNvSpPr txBox="1"/>
          <p:nvPr/>
        </p:nvSpPr>
        <p:spPr>
          <a:xfrm rot="-5400000">
            <a:off x="4682538" y="2046831"/>
            <a:ext cx="129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Record Count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328" name="Google Shape;328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“Tender_detail_status” column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3 categories: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Ordinal data,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“Awarded to No suppliers” replaced with 0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“Awarded to Suppliers”  replaced with 1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“Awarded by Items” replaced with 2</a:t>
            </a:r>
            <a:endParaRPr/>
          </a:p>
        </p:txBody>
      </p:sp>
      <p:pic>
        <p:nvPicPr>
          <p:cNvPr id="329" name="Google Shape;3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0450" y="2489621"/>
            <a:ext cx="2644075" cy="61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335" name="Google Shape;335;p21"/>
          <p:cNvSpPr txBox="1"/>
          <p:nvPr>
            <p:ph idx="1" type="body"/>
          </p:nvPr>
        </p:nvSpPr>
        <p:spPr>
          <a:xfrm>
            <a:off x="1303800" y="1990050"/>
            <a:ext cx="29133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“awarded_amt” </a:t>
            </a:r>
            <a:r>
              <a:rPr lang="en"/>
              <a:t>column</a:t>
            </a:r>
            <a:r>
              <a:rPr lang="en"/>
              <a:t>, target variable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Wide range, between 0 to 10</a:t>
            </a:r>
            <a:r>
              <a:rPr baseline="30000" lang="en"/>
              <a:t>10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Mostly centered between 10</a:t>
            </a:r>
            <a:r>
              <a:rPr baseline="30000" lang="en"/>
              <a:t>5 </a:t>
            </a:r>
            <a:r>
              <a:rPr lang="en"/>
              <a:t>to 10</a:t>
            </a:r>
            <a:r>
              <a:rPr baseline="30000" lang="en"/>
              <a:t>6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 new column “bin” then stratify by “bin” when  doing train test split.</a:t>
            </a:r>
            <a:endParaRPr/>
          </a:p>
        </p:txBody>
      </p:sp>
      <p:pic>
        <p:nvPicPr>
          <p:cNvPr id="336" name="Google Shape;3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9650" y="1640438"/>
            <a:ext cx="3122586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1"/>
          <p:cNvSpPr txBox="1"/>
          <p:nvPr/>
        </p:nvSpPr>
        <p:spPr>
          <a:xfrm rot="-5400000">
            <a:off x="4169988" y="2232081"/>
            <a:ext cx="129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Record Count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grpSp>
        <p:nvGrpSpPr>
          <p:cNvPr id="343" name="Google Shape;343;p22"/>
          <p:cNvGrpSpPr/>
          <p:nvPr/>
        </p:nvGrpSpPr>
        <p:grpSpPr>
          <a:xfrm>
            <a:off x="381000" y="1978875"/>
            <a:ext cx="8317763" cy="1025075"/>
            <a:chOff x="152400" y="1597875"/>
            <a:chExt cx="8317763" cy="1025075"/>
          </a:xfrm>
        </p:grpSpPr>
        <p:pic>
          <p:nvPicPr>
            <p:cNvPr id="344" name="Google Shape;344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597875"/>
              <a:ext cx="1577674" cy="1025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30075" y="1597875"/>
              <a:ext cx="1610430" cy="1025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328000" y="1597875"/>
              <a:ext cx="1660443" cy="1025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2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034825" y="1597875"/>
              <a:ext cx="1683246" cy="1025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2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764450" y="1597875"/>
              <a:ext cx="1705713" cy="1025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9" name="Google Shape;349;p22"/>
          <p:cNvSpPr txBox="1"/>
          <p:nvPr/>
        </p:nvSpPr>
        <p:spPr>
          <a:xfrm>
            <a:off x="381000" y="1321225"/>
            <a:ext cx="377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“awarded_amt” density by log range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50" name="Google Shape;350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1000" y="3575650"/>
            <a:ext cx="1605050" cy="106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86050" y="3575650"/>
            <a:ext cx="1605050" cy="1107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9875" y="3575650"/>
            <a:ext cx="1577181" cy="11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34050" y="3562450"/>
            <a:ext cx="1636750" cy="11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087800" y="3562450"/>
            <a:ext cx="1636750" cy="11466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2"/>
          <p:cNvSpPr txBox="1"/>
          <p:nvPr/>
        </p:nvSpPr>
        <p:spPr>
          <a:xfrm>
            <a:off x="874525" y="2895425"/>
            <a:ext cx="77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 to 1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2479575" y="2869250"/>
            <a:ext cx="77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1 to 10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>
            <a:off x="3987000" y="2895425"/>
            <a:ext cx="103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10 to 10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5710975" y="2895425"/>
            <a:ext cx="116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10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to 10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7401575" y="2895425"/>
            <a:ext cx="116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10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to 10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4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678925" y="4575075"/>
            <a:ext cx="116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10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4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to 10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5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2207775" y="4575075"/>
            <a:ext cx="116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10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5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to 10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6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3923850" y="4575075"/>
            <a:ext cx="116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10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6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to 10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7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5710975" y="4575075"/>
            <a:ext cx="116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10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7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to 10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8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7401575" y="4575075"/>
            <a:ext cx="116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10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8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to 10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9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NLP feature sets</a:t>
            </a:r>
            <a:endParaRPr/>
          </a:p>
        </p:txBody>
      </p:sp>
      <p:sp>
        <p:nvSpPr>
          <p:cNvPr id="370" name="Google Shape;370;p2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“tender_description” column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Basic features, “char_count”, “word_count”, “word_density”, “adj_count”, “adv_count”, “noun_count”, “num_count”, “pron_count”, “propn_count”, “verb_count”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Count vector by word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TF-IDF by word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TF-IDF by word, 2, 3 ngram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TF-IDF by character, 2, 3 ngram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Regressor</a:t>
            </a:r>
            <a:endParaRPr/>
          </a:p>
        </p:txBody>
      </p:sp>
      <p:pic>
        <p:nvPicPr>
          <p:cNvPr id="376" name="Google Shape;37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0075" y="1426350"/>
            <a:ext cx="6591749" cy="335627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4"/>
          <p:cNvSpPr txBox="1"/>
          <p:nvPr/>
        </p:nvSpPr>
        <p:spPr>
          <a:xfrm>
            <a:off x="1069500" y="1321225"/>
            <a:ext cx="190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Basic NLP features</a:t>
            </a:r>
            <a:endParaRPr b="1" u="sng"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8" name="Google Shape;378;p24"/>
          <p:cNvSpPr txBox="1"/>
          <p:nvPr/>
        </p:nvSpPr>
        <p:spPr>
          <a:xfrm>
            <a:off x="1069500" y="2171550"/>
            <a:ext cx="566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Count vectors by word</a:t>
            </a:r>
            <a:endParaRPr b="1" u="sng"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9" name="Google Shape;379;p24"/>
          <p:cNvSpPr txBox="1"/>
          <p:nvPr/>
        </p:nvSpPr>
        <p:spPr>
          <a:xfrm>
            <a:off x="1069500" y="3001625"/>
            <a:ext cx="566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TF-IDF</a:t>
            </a:r>
            <a:r>
              <a:rPr b="1" lang="en" u="sng"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 by word</a:t>
            </a:r>
            <a:endParaRPr b="1" u="sng"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0" name="Google Shape;380;p24"/>
          <p:cNvSpPr txBox="1"/>
          <p:nvPr/>
        </p:nvSpPr>
        <p:spPr>
          <a:xfrm>
            <a:off x="1069500" y="3807325"/>
            <a:ext cx="566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TF-IDF by word 2, 3 ngrams</a:t>
            </a:r>
            <a:endParaRPr b="1" u="sng"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1" name="Google Shape;381;p24"/>
          <p:cNvSpPr txBox="1"/>
          <p:nvPr/>
        </p:nvSpPr>
        <p:spPr>
          <a:xfrm>
            <a:off x="6781600" y="2688838"/>
            <a:ext cx="201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TF-IDF by character 2,3 ngrams did not finish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1048200" y="3368875"/>
            <a:ext cx="1994100" cy="609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</a:t>
            </a:r>
            <a:r>
              <a:rPr lang="en"/>
              <a:t>with</a:t>
            </a:r>
            <a:r>
              <a:rPr lang="en"/>
              <a:t> Linear Regression</a:t>
            </a:r>
            <a:endParaRPr/>
          </a:p>
        </p:txBody>
      </p:sp>
      <p:sp>
        <p:nvSpPr>
          <p:cNvPr id="388" name="Google Shape;388;p2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Model is worse than baseline when Linear Regression is used.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89" name="Google Shape;38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7025" y="2832225"/>
            <a:ext cx="340995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improvements</a:t>
            </a:r>
            <a:endParaRPr/>
          </a:p>
        </p:txBody>
      </p:sp>
      <p:sp>
        <p:nvSpPr>
          <p:cNvPr id="395" name="Google Shape;395;p26"/>
          <p:cNvSpPr txBox="1"/>
          <p:nvPr>
            <p:ph idx="1" type="body"/>
          </p:nvPr>
        </p:nvSpPr>
        <p:spPr>
          <a:xfrm>
            <a:off x="1303800" y="1385500"/>
            <a:ext cx="7030500" cy="10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Deep learning?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Tfidf vectorizer capped at 5000 features. Remove cap?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Exclude the 7 outliers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 a pipeline of different models based on density curve</a:t>
            </a:r>
            <a:endParaRPr/>
          </a:p>
        </p:txBody>
      </p:sp>
      <p:sp>
        <p:nvSpPr>
          <p:cNvPr id="396" name="Google Shape;396;p26"/>
          <p:cNvSpPr txBox="1"/>
          <p:nvPr/>
        </p:nvSpPr>
        <p:spPr>
          <a:xfrm>
            <a:off x="1494325" y="3154400"/>
            <a:ext cx="2013600" cy="831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Classifier using with “tender_status_detail” as target variable</a:t>
            </a:r>
            <a:endParaRPr>
              <a:highlight>
                <a:schemeClr val="dk2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4502500" y="2599825"/>
            <a:ext cx="1495500" cy="61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Model for left-skewed bin</a:t>
            </a:r>
            <a:endParaRPr>
              <a:highlight>
                <a:schemeClr val="dk2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8" name="Google Shape;398;p26"/>
          <p:cNvSpPr txBox="1"/>
          <p:nvPr/>
        </p:nvSpPr>
        <p:spPr>
          <a:xfrm>
            <a:off x="4502500" y="3985700"/>
            <a:ext cx="1064100" cy="61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Model for valley bin</a:t>
            </a:r>
            <a:endParaRPr>
              <a:highlight>
                <a:schemeClr val="dk2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99" name="Google Shape;399;p26"/>
          <p:cNvCxnSpPr>
            <a:stCxn id="396" idx="3"/>
          </p:cNvCxnSpPr>
          <p:nvPr/>
        </p:nvCxnSpPr>
        <p:spPr>
          <a:xfrm flipH="1" rot="10800000">
            <a:off x="3507925" y="2912450"/>
            <a:ext cx="994500" cy="6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" name="Google Shape;400;p26"/>
          <p:cNvCxnSpPr>
            <a:stCxn id="396" idx="3"/>
            <a:endCxn id="398" idx="1"/>
          </p:cNvCxnSpPr>
          <p:nvPr/>
        </p:nvCxnSpPr>
        <p:spPr>
          <a:xfrm>
            <a:off x="3507925" y="3570050"/>
            <a:ext cx="994500" cy="7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01" name="Google Shape;40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0250" y="3763088"/>
            <a:ext cx="1605050" cy="106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0350" y="2353825"/>
            <a:ext cx="1605050" cy="1107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